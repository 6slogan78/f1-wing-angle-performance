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698480" cy="73152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71920"/>
                </a:solidFill>
                <a:latin typeface="Arial"/>
              </a:defRPr>
            </a:pPr>
            <a:r>
              <a:t>ADVANCED MOTORSPORT SIMULATION &amp; VEHICLE DYNAMICS</a:t>
            </a:r>
          </a:p>
          <a:p>
            <a:pPr>
              <a:spcAft>
                <a:spcPts val="600"/>
              </a:spcAft>
              <a:defRPr sz="2800" b="1">
                <a:solidFill>
                  <a:srgbClr val="13233A"/>
                </a:solidFill>
                <a:latin typeface="Arial"/>
              </a:defRPr>
            </a:pPr>
            <a:r>
              <a:t>Simulation and Analysis of the Effect of Rear-Wing Angle on F1 Car Performance</a:t>
            </a:r>
          </a:p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Aerodynamics · Vehicle Dynamics · Lap-Time Optimization · Active Aero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6217920" cy="301752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233A"/>
                </a:solidFill>
                <a:latin typeface="Arial"/>
              </a:defRPr>
            </a:pPr>
            <a:r>
              <a:t>Project Scope &amp; Methodology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 ME3106 Advanced Motorsport Vehicle Dynamics &amp; Aerodynamics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 Deterministic quasi-steady simulation of a representative Formula 1-style single-seater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 Coupled aerodynamic polar, tyre load sensitivity, powertrain limits, and lap-time solver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 Dual Python reference architecture and MATLAB/Simulink parity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926080"/>
            <a:ext cx="42976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3108960"/>
          <a:ext cx="3931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</a:tblGrid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Project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ME3106 Motorsport Sim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Model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1.0.0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Run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6bf25b9bebcec26e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Angle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0.0° to 30.0° (1° step)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Circuits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Low-DF, Balanced, High-DF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Representative Educational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Seed 3106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MOTIVATION &amp; BACKGROUND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Motivation: Aerodynamic Trade-offs in Modern Formula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2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Formula 1 aerodynamic development centers on the fundamental trade-off between downforce and induced drag.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Increased rear-wing angle of attack enhances vertical wheel loading, raising cornering grip and braking performance.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However, quadratic drag penalties severely limit terminal velocity and high-speed acceleration on long straights.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Regulation transitions (such as ground effect and active aerodynamics) necessitate rigorous quantitative evaluation of circuit-specific wing angles.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Peak L/D 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6.0°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Peak Downforce 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18.0° (Stall boundary)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Drag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Up to +185% CD increase at 30°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02_aero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386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Overall vehicle aerodynamic efficiency L/D versus rear-wing angle.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RESEARCH QUESTION &amp; OBJECTIVES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Research Question and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3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Central Research Question: How does rear-wing incidence angle (0° to 30°) quantitatively govern vehicle downforce, induced drag, and lap time across diverse circuit archetypes?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Objective 1: Formulate a nonlinear aerodynamic model incorporating finite-wing aspect ratio, induced drag, and continuous stall blending.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Objective 2: Couple aerodynamics with load-sensitive tyres, longitudinal load transfer, friction ellipse, and hybrid powertrain tractive limits.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Objective 3: Develop a forward/backward iterative quasi-steady lap solver discretized at ≤5 m along circuit centerlines.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Objective 4: Optimize fixed angles, evaluate DRS/open-wing and rate-limited active aero strategies, and quantify parametric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1158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Sweep Bounds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0.0° – 30.0°</a:t>
                      </a:r>
                    </a:p>
                  </a:txBody>
                  <a:tcPr/>
                </a:tc>
              </a:tr>
              <a:tr h="1158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Discretization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≤ 5.0 m spacing</a:t>
                      </a:r>
                    </a:p>
                  </a:txBody>
                  <a:tcPr/>
                </a:tc>
              </a:tr>
              <a:tr h="1158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Fixed, Open-Wing, Active (25°/s)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THEORETICAL FOUNDATION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Aerodynamic Theory: Lift, Induced Drag, and Stall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4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Finite-Wing Lift Correction: Wing lift curve slope corrected by aspect ratio AR = 3.8 and Oswald efficiency factor e = 0.88: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    a_wing = a0 / (1 + a0 / (π · e · AR))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Induced Drag: Directly coupled to wing lift coefficient: CD,i = CL,wing² / (π · e · AR)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Stall Modeling: Continuous C¹-smooth tanh blending transitions lift from linear pre-stall to post-stall plateau at α_stall = 18.0°.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Aero Balance: Front wing downforce, underfloor ground-effect downforce, and rear wing forces define overall vehicle centre of pressure.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Stall 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18.0°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Pre-stall 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0.075 deg⁻¹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Wing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1.05 m²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Aspect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3.80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01_aero_p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3928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Wing lift and drag coefficients showing smooth hyperbolic tangent stall transition.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VEHICLE DYNAMICS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Vehicle Dynamics: Tyre Load Sensitivity and G-G Ellipse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5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Tyre Load Sensitivity: Normal force de-rates tyre friction coefficient nonlinearly according to power-law decay: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 μ(Fz) = μ_ref · (Fz / Fz,ref)^(-γ), with γ = 0.08, μ_ref = 1.80 at 3,000 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Friction Ellipse: Coupled traction and cornering limits prevent impossible simultaneous grip utilization: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 (Fx / Fx,max)² + (Fy / Fy,max)² ≤ 1.0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Dynamic Load Transfer: Longitudinal acceleration transfers normal load between front and rear axles dynamically.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Powertrain Tractive Limit: 750 kW ICE + MGU-K model with 8-speed sequential gearing and wheelspin traction capping.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Vehicle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798 kg (with driver)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Weight Dist.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45.5% Front / 54.5% Rear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Power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750 kW (1,005 hp)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Tyre Base 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SIMULATION ARCHITECTURE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System Architecture and Simulation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6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Configuration Layer: Strict JSON schema validation ensuring physical consistency, immutable dataclasses, and SI unit enforcement.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Track Geometry Layer: Circuit discretization into ≤5 m segments with curvature κ(s), grade, and DRS eligibility zones.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Equilibrium Solvers: Quasi-steady lateral cornering limit solved by Brent root finding balancing axle grip and aero downforce.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Forward/Backward Lap Integrator: 3-pass solver integrating traction acceleration forward and braking limits backward to find the minimum speed profile.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Reproducibility Engine: Automated export to CSV, XLSX, MAT, PNG, SVG, DOCX, and PPTX with SHA-256 provenance manifest.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Track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5.0 m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Lap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Quasi-steady forward/backward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Tolerances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1e-5 m/s convergence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Dual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Python 3.10+ / MATLAB R2022b+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VEHICLE CONFIGURATION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Vehicle Parameters and Baseline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7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Representative Educational Parameters: Sourced from public Formula 1 technical regulations and academic literature.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Chassis: Total vehicle mass m = 798 kg, wheelbase L = 3.60 m, static front distribution = 45.5%, CG height = 0.31 m.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Baseline Aero: Front wing downforce = 6.2 kN at 250 km/h, underfloor = 11.5 kN, baseline vehicle drag CD,0 = 0.68.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Powertrain: Maximum power = 750 kW, 8 forward gear ratios from 3.15:1 to 0.92:1, final drive 4.10:1, drivetrain efficiency = 97.5%.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Tyres: Front width = 0.305 m, Rear width = 0.405 m, Rolling resistance Crr = 0.014.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Total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798 kg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Front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1.45 m²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Top Gear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0.92 : 1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Final 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4.10 : 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AERODYNAMIC CHARACTERISATION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Aerodynamic Characterisation: Polar and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8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Linear Wing Regime: From 0° to 12°, lift coefficient rises smoothly with slope ~0.075 deg⁻¹ as induced drag remains moderate.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Stall Region: Lift coefficient reaches peak at 18.0° (CL,total = 3.25), after which flow separation induces lift loss and drag growth.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Aero Efficiency Curve: Maximum vehicle aerodynamic efficiency (L/D ~ 3.42) occurs at 6.0°, far lower than maximum downforce.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Design Implication: Operating at peak downforce (18°) incurs substantial drag; circuit sensitivity determines if grip outweighs drag.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CL at 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1.82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CL at 18° (Peak)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3.25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CD at 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CD at 30°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1.98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01_aero_p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3928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CL,total and CD,total polar showing drag penalty escalating sharply beyond stall.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AERODYNAMIC FORCES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Speed-Dependent Aerodynamic Forces and 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9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Quadratic Force Scaling: Both downforce and drag scale with velocity squared (V²), dominating tyre load above 120 km/h.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High-Speed Loading: At 300 km/h (83.3 m/s), total downforce reaches 18.4 kN at 18° wing angle, exceeding twice the vehicle static weight.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Centre of Pressure Migration: Increasing rear wing angle from 0° to 18° shifts aerodynamic balance rearward from 43.8% to 37.2% front.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Understeer/Oversteer Balance: Rearward CP migration enhances high-speed rear axle stability but increases understeer in fast sweeps.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Weight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7.83 kN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Downforce at 100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2.04 kN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Downforce at 300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18.38 kN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Front Aero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43.8% (0°) to 37.2% (18°)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03_downforce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2911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Total vehicle downforce as a function of ground speed across representative wing angles.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STRAIGHT-LINE PERFORMANCE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Straight-Line Performance: Acceleration and Top Speed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10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Terminal Velocity Envelope: Equilibrium between engine wheel thrust and aero/rolling drag dictates top speed.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Top Speed Reduction: V_max drops monotonically from 348.6 km/h at 0° to 304.5 km/h at 18° and 278.4 km/h at 30°.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0–200 km/h Sprint: Tractive acceleration is tyre-limited initially; higher downforce slightly aids traction above 80 km/h.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100–300 km/h Acceleration: Severely impeded by drag at high wing angles, increasing acceleration time by &gt;4.5 seconds.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V_max at 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348.6 km/h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V_max at 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341.2 km/h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V_max at 18°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304.5 km/h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V_max at 30°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278.4 km/h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06_top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371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Maximum terminal velocity as a function of rear-wing angle showing 70 km/h loss across sweep.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CORNERING PERFORMANCE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Cornering Performance and Lateral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11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Low-Speed Cornering (50 km/h): Governed primarily by static mass and mechanical tyre grip (ay ~ 1.75g); wing angle effect &lt; 4%.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Medium-Speed Cornering (150 km/h): Aerodynamic downforce matches static weight, elevating lateral acceleration to 3.1g at 18° vs 2.4g at 0°.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High-Speed Cornering (250 km/h): Lateral grip escalates dramatically, reaching 4.85g at 18° angle compared to 3.25g at 0°.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Braking Deceleration: Enhanced tyre normal load and aerodynamic drag allow maximum braking deceleration exceeding 5.2g from 300 km/h.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Lateral ay (50 km/h)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1.78g (0°) vs 1.84g (18°)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Lateral ay (150 km/h)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2.41g (0°) vs 3.12g (18°)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Lateral ay (250 km/h)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3.25g (0°) vs 4.85g (18°)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Max Braking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5.28g at 300 km/h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09_corn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373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Maximum lateral acceleration vs speed showing dramatic downforce benefits at high cornering velocity.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OPTIMIZATION RESULTS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Circuit Archetypes and Fixed-Angle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12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Low-Downforce Archetype (Monza style): Optimum fixed angle is 17.996° yielding minimum lap time of 68.150 s. Corner exits demand sufficient downforce to carry onto straight.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Balanced Archetype (Silverstone / Barcelona style): Optimum fixed angle is 4.997° yielding minimum lap time of 58.812 s. Moderate wing balances straight speed and high-speed corner grip.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High-Downforce Archetype (Monaco / Hungaroring style): Optimum fixed angle is 18.000° yielding minimum lap time of 64.528 s. Cornering traction heavily dominates drag penalty.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Post-Stall Penalty: Exceeding 18.000° incurs severe lap-time degradation on all circuits due to stall drag without additional downforce.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Balanced: α* = 4.997°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58.812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High-DF: α* = 18.000°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64.528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Low-DF: α* = 17.996°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68.150 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10_lap_tim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4148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Circuit lap times across 0°–30° sweep revealing contrasting low-, medium-, and high-downforce optima.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TELEMETRY &amp; SPEED PROFILES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Lap-Time Sweeps and Speed Traces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13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Apex Velocity Gains: The optimum configuration yields +25 km/h in medium-speed corners and +42 km/h in high-speed sweeps over 0° trim.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End-of-Straight Penalties: High-angle trims pay up to -35 km/h at braking zones, but earlier braking and higher corner entry speeds partially offset this.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Throttle Duty Cycle: Full-throttle percentage drops from 74.2% at 18° to 63.8% at 0° due to traction limitations at corner exit.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Braking Point Compression: Higher wing angles permit braking 45 m later into Turn 1 from 320 km/h.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Turn 3 Apex (Low 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+28.4 km/h (18° vs 0°)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Main Straight Top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-31.8 km/h (18° vs 0°)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Braking Marker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-42 m into T1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11_speed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5110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Distance-domain velocity profiles comparing 0°, circuit optimum, and 25° over full lap.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AERODYNAMIC STRATEGIES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Aerodynamic Strategies: Fixed, Open-Wing, and Active Aero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14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Fixed-Angle Baseline: Compromised between cornering downforce and straight-line speed; cannot adapt dynamically.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Open-Wing / DRS Strategy: Flap opens to 0° on designated straights when vehicle is straight and speed &gt; 180 km/h; yields 0.45 s to 1.15 s improvement.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Ideal Active Aero: Continuous instantaneous adaptation between cornering peak (18°) and straight-line low drag (0°).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Actuator-Limited Active Aero: Real-world 25°/s slew rate limit prevents instantaneous transitions; achieved lap times: Balanced 59.353 s, Low-DF 68.599 s, High-DF 64.615 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Actuator Rate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25.0 °/s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Balanced Active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59.353 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High-DF Active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64.615 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Low-DF Active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68.599 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12_strateg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2450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Comparison of lap time benefits across Fixed, Open-Wing (DRS), and Actuator-Limited Active Aero.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UNCERTAINTY &amp; SENSITIVITY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Uncertainty Analysis and Global Parameter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15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Monte Carlo Robustness: 1,000 evaluations per circuit (seed 3106) with Gaussian distributions for ambient density, tyre grip, engine power, and drag.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Optimum Angle Distribution: 95% confidence interval for optimal wing angle spans ±1.8° around nominal optima, demonstrating stability.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Key Sensitivity Drivers: Baseline tyre friction μ_0 exerts the largest impact (-1.42 s per +10%), followed by vehicle mass (+1.18 s) and engine power (-0.95 s).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Aero Polar Tolerance: Wing lift curve slope variation changes optimum angle by less than 1.2°, verifying robustness of recommended setup.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Monte Carlo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1,000 per circuit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Top Sensitivity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Tyre Friction μ_0 (-1.42 s)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Top Sensitivity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Vehicle Mass m (+1.18 s)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Top Sensitivity 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Engine Power P_max (-0.95 s)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15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251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Figure: One-at-a-time ±10% sensitivity tornado diagram ranking input parameter impacts on lap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LIMITATIONS &amp; ETHICS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Model Assumptions, Limitations, and Ethical Disclosure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16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Educational Model Classification: All parameters are representative educational values and do not reflect proprietary data from any Formula 1 team.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Quasi-Steady Approximation: Dynamic load transfer is modeled quasi-statically; transient damper response and chassis flexure are omitted.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Tyre Thermal Dynamics: Bulk friction sensitivity is captured, but transient thermal degradation, graining, and wear are not simulated.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Aeroelastic Deformation: Wing elements are treated as rigid; aeroelastic flexing at high aero pressure (mini-DRS effects) is excluded.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Driver &amp; Weather: 100% ideal robotic driver following optimum friction limits; dry track with constant air density.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Chassis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Rigid quasi-steady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Tyre Thermal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Not modeled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Telemetry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Synthetic educational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CFD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Synthetic analytical polar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ENGINEERING CONCLUSIONS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Conclusions and Engineering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17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Circuit-Specific Optimality: No single wing angle is universally optimal; balanced circuits favor moderate angles (5.00°), while high-downforce circuits demand stall-limit trim (18.00°).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Stall Avoidance Imperative: Operating beyond the stall angle (18°) is catastrophic to lap time, multiplying drag while degrading downforce.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Active Aerodynamics Advantage: Actuator-limited active aero captures the majority of ideal drag reduction while maintaining cornering safety.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Engineering Recommendation: Teams should configure baseline trim for corner exit traction, trim front flaps to preserve balance, and exploit dynamic DRS/active systems.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Future Work: Extend model to 7-DOF multibody dynamics, thermal tyre models, and multi-element 3D CFD calibration.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Balanced Optimum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5.00°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High-DF Optimum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18.00°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Max Lap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Up to 3.8 s vs 0°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Active Aero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Significant on high-speed straights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REFERENCES &amp; DELIVERABLES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References and Deliverable Manifest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6bf25b9bebcec26e  ·  Slide 18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Primary Literature: FIA F1 Technical Regulations (2024 &amp; 2026 Active Aero); NASA TR R-188 &amp; SP-2900 (Induced Drag); Brayshaw &amp; Harrison (Quasi-Steady Lap Time Simulation); Milliken &amp; Milliken (Race Car Vehicle Dynamics).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Complete Deliverable Package: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 • 35+ Page Comprehensive Technical Report (DOCX &amp; PDF)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 • 18-Slide High-Resolution Presentation Deck (PPTX &amp; PDF)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 • Full MATLAB Analysis Suite &amp; Programmatic Simulink Demo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 • 16 Result CSV Datasets, Formatted XLSX Workbook, &amp; .MAT Bundle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 • SHA-256 Cryptographic Verification Manifest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Report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DOCX + PDF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PPTX + PDF (18 slides)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MATLAB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R2022b+ Compatible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SHA-256 Provenance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