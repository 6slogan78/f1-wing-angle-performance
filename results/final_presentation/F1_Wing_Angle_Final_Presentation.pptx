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comparative engineering experiment, not an exact F1 digital twin. The central question is whether added downforce compensates for drag over a complete 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 wing with maximum lift-to-drag ratio is not necessarily the fastest setup. All comparisons use identical vehicle inputs and track meshes.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before discussing results. Axle forces are resolved, but yaw handling and transient suspension behavior are not modeled. Circuit labels describe synthetic geometry, not real 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finite span reduces the ideal two-dimensional lift slope. The stall angle is an assumed model parameter, not an experimentally measured property of a real F1 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force rises with air speed squared for unchanged coefficients. Distinguish the wing coefficients from the area-scaled full-car coefficients. Downforce is positive downward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corrected friction-ellipse normalization. An axle already using most lateral grip cannot independently provide its full longitudinal force. Load transfer must use the achieved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main physics correction: a purely lateral speed limit can permit unsustainable speed if no tyre force remains to overcome drag. The corrected solver rejects that state. No battery or hybrid deployment is modeled.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distance-domain solver. The start/finish cell is part of the physics, not a special unchecked edge. Numerical guards establish feasibility within the model, not experimental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fresh fixed-lap sweep plot, not the legacy result bundle. Discuss how curve minima differ across circuits. Do not rename the synthetic circuits as real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the refined optima to three decimals, then explain that more digits do not imply experimentally calibrated accuracy. The high-downforce optimum falls at the assumed stall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the energy metric means. Avoid interpreting a tractive-work difference as a fuel-saving percentage; engine efficiency and hybrid energy flows are outside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active strategy is an educational control policy, not an exact FIA implementation. The ideal mode is a model comparison; the limited mode includes actuator timing. Grid-resolved optimality is not continuous-global optimality.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corrected three-strategy comparison. Report the gain in seconds from the fixed optimum to the limited strategy. These nominal gains are not guaranteed real-world performance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the six active grids: the balanced ideal grid completed earlier, while the five monitored grids contribute 2,325 cases. Passing these guards does not make the whole software suite or native implementation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source/model files if demonstrating the project. Do not say all results were produced by MATLAB: the corrected numerical evidence here comes from Python. MATLAB startup failed in this environment, and full native scope is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direct: uncertainty results are unfinished. Explain the planned sample-angle physical simulations, but do not present the proposal as completed work. This transparency is stronger than displaying invalid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the engineering trade-off and the corrected feasibility requirement. Explain that the deliverable is a defensible presentation of verified nominal results, not a declaration that every original project requirement is satisfied.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about the equations, numerical guards, optimization and limits. If asked about a real F1 setup or robust optimum, say that calibrated aerodynamic/tyre data and validated uncertainty are still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698480" cy="73152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71920"/>
                </a:solidFill>
                <a:latin typeface="Arial"/>
              </a:defRPr>
            </a:pPr>
            <a:r>
              <a:t>ADVANCED MOTORSPORT SIMULATION &amp; VEHICLE DYNAMICS</a:t>
            </a:r>
          </a:p>
          <a:p>
            <a:pPr>
              <a:spcAft>
                <a:spcPts val="600"/>
              </a:spcAft>
              <a:defRPr sz="2800" b="1">
                <a:solidFill>
                  <a:srgbClr val="13233A"/>
                </a:solidFill>
                <a:latin typeface="Arial"/>
              </a:defRPr>
            </a:pPr>
            <a:r>
              <a:t>Effect of Rear-Wing Angle on F1 Car Performance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6217920" cy="301752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233A"/>
                </a:solidFill>
                <a:latin typeface="Arial"/>
              </a:defRPr>
            </a:pPr>
            <a:r>
              <a:t>Project Scope &amp; Methodology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An analytical simulation of a representative Formula 1-style vehicle.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Rear-wing sweep: 0–30° on three synthetic circuit archetypes.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Corrected force-feasible lap solver and full-bound active-aero search.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 Verified numerical results; not CFD, measured telemetry, or a team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926080"/>
            <a:ext cx="4297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3108960"/>
          <a:ext cx="3931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</a:tblGrid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Project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ME3106 Motorsport Sim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Model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1.0.0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Run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9b1c3a7968173ace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Angle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0.0° to 30.0° (1° step)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Low-DF, Balanced, High-DF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Representative Educational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Seed 3106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RESEARCH QUESTION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Research Question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2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How does rear-wing incidence affect aerodynamic forces and minimum lap time?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Quantify the trade-off between straight-line resistance and cornering grip.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Compare low-downforce, balanced, and high-downforce circuit geometries.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Compare a fixed wing with ideal and actuator-limited two-state strategies.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Independent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Rear-wing angle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Main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Minimum feasible lap time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Secondary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Speed and tractive energy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Same car; different tracks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ASSUMPTIONS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Study Scope and Modeling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3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Quasi-steady point-mass motion with front/rear axle load resolution.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Analytical rear-wing polar combined with a fixed baseline full-car map.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Load-sensitive tyres, combined grip, longitudinal load transfer, torque and gearing.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No tyre-temperature dynamics, suspension transients, driver telemetry, or CFD.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Model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Full-car forces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Track spacing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 more than 5 m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Vehicle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798 kg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Wheelbase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3.60 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AERODYNAMICS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Aerodynamic Model: Lift, Drag and Stall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4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Finite-wing slope: a = a0 / [1 + a0 / (pi e AR)].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Wing drag includes profile, induced and assumed post-stall terms.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Pre-stall lift rises linearly; post-stall lift decays exponentially.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The join is continuous, but its slope can kink at the assumed stall angle.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Angle 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0–30°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Assumed 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Aspect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Span squared / wing area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2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AERODYNAMIC FORCES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Speed-Dependent Downforce and Drag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5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Dynamic pressure: q = 0.5 rho V_air squared.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Downforce = q A CL,total; drag = q A CD,total.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Relative air speed matters when wind is present.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Added rear-wing force changes axle loading and the available tyre grip.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Air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1.225 kg/m3 nominal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Reference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1.50 m2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Comparison 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0°, 9°, 18°, 30°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6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VEHICLE DYNAMICS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Tyre Grip and Longitudinal Load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6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Load sensitivity: mu = mu_ref (Fz / Fz_ref)^(-n).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Combined demand: (Fx/Fx,max)^p + (Fy/Fy,max)^p &lt;= 1.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Lateral demand is normalized by lateral friction, not longitudinal friction.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Actual acceleration shifts axle normal loads and alters traction/braking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Tyre exponent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Ellipse exponent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Nominal mu_x / mu_y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1.85 / 1.95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Load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Front and rear axles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LONGITUDINAL PERFORMANCE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Powertrain and Force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7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Available wheel thrust follows the interpolated engine torque curve and eight gears.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Resistance combines aerodynamic drag, rolling resistance and track gradient.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Each segment must satisfy thrust - brake - resistance = mass x acceleration.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Constant-speed cornering must reserve enough longitudinal grip to overcome drag.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Gear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Driveline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Redline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15,000 rpm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Energy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Positive wheel tractive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SIMULATION METHOD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Closed-Track Lap Simulation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8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Load validated car configuration and discretize the track at &lt;=5 m.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Construct a sustainable local speed envelope for the commanded wing profile.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Apply forward acceleration and backward braking passes until convergence.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Include the closing segment, then check achieved acceleration and force closure.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Speed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&lt;=0.001 m/s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Iteration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Force feasibility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&gt;= -5 N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Force closure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&lt;=0.000001 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CORRECTED RESULTS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Fixed-Wing Sweep Across Three Circuits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9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93 physical laps: 31 integer angles x three synthetic circuits.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Every case checked for convergence, force feasibility and closed-segment integration.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All angle cases retain the original 5 m track discretization.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The best wing setting depends on this car model and the circuit geometry.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Grid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93 / 93 checked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Wing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0°, 1°, ... 30°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Track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Low-DF / Balanced / High-DF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ed_l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2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FIXED OPTIMIZATION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Continuously Refined Fixed-Wing Optima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10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Physical lap solves refine candidate basins around the integer sweep.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Bounds and neighboring integer points remain part of the search.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Balanced-track optimum is near 2.819°; the other two are near 18°.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These are nominal model optima, not uncertainty confidence intervals.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Low-DF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17.752° / 68.927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Balanced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2.819° / 59.130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High-DF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18.000° / 64.418 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ed_l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2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FIXED-WING DIAGNOSTICS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Speed and Energy: Secondary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11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Record maximum speed and positive tractive wheel work for every fixed lap.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Energy is integrated from achieved tractive force over distance.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Minimum lap time and minimum tractive energy are different objectives.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Wheel tractive work is not fuel consumption or battery-energy demand.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Fresh 93-case fixed audit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Energy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MJ per modeled lap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Speed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km/h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42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CONTROL STRATEGY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Two-State Active Aerodynamics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12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Use an open, lower-angle state on eligible straight sections.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Use a closed, higher-angle state under the modeled switching conditions.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Search every unique integer pair within 0–30°, with &gt;=1° separation.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Compare ideal state changes against finite-rate, delayed actuator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Pairs per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465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Actuator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90°/s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Activation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0.2 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Deactivation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0.1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ACTIVE-AERO RESULTS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Fixed Versus Ideal and Limited Active Aero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13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Compare optimized strategies using the same car and original track meshes.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Active search evaluates actual physical laps, not a coarsened surrogate.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All completed cases must satisfy force, convergence and actuator checks.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Interpret small differences relative to model assumptions and numerical resolution.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7548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Low-DF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67.914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Balanced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59.053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High-DF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64.184 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3238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rial"/>
              </a:defRPr>
            </a:pPr>
            <a:r>
              <a:t>Corrected model output; representative educational vehicle.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NUMERICAL AUDIT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Validation and Reproducibility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14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Fixed sweep: 93 checked laps, including force, time and energy closure.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Active searches: 465 unique pairs per circuit and actuator mode.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Scalar force checks include the track closing segment and achieved acceleration.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Source hashes, input hashes, runtime versions and completion receipts preserve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Active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 circuits x 2 modes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Active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2,790 total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Audit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Numerical feasibility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Empirical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Not performed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NATIVE TOOLCHAIN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MATLAB and Simulink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15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MATLAB source includes configuration, aero, dynamics and fixed-wing lap analysis.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Simulink model/builder is supplied for a speed-dependent aero/actuator demonstration.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The aero block chain is: speed and angle -&gt; coefficients -&gt; forces -&gt; scopes.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Full native active/uncertainty/sensitivity execution and strict runtime parity remain unverified.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MATLAB entry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matlab/run_project.m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Parity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1e-4 required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Simulink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Aero/actuator demonstration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Runtime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native validation 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RESEARCH LIMITATIONS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Uncertainty and Sensitivity: What Remains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16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A validated &gt;=1,000-sample, nine-parameter uncertainty study is still required.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The tested uncertainty surrogate failed independent validation and was rejected.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Direct full-physics Monte Carlo is selected, but not yet implemented or executed.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No confidence intervals or sensitivity rankings are claimed in this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Planned random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3106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Planned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&gt;=1,000 per circuit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Accepted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None yet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Legacy MC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CONCLUSIONS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Main Findings and Engineering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17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There is no universal wing angle: optimize for the complete circuit, not one aerodynamic metric.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Correct force balance changes the accepted lap speeds, optima and strategy comparisons.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Two-state active aero provides a nominal model benefit when feasible switching is allowed.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Final empirical calibration, native parity and validated uncertainty are necessary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Nominal fixed optimum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Circuit dependent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Control takeaway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Respect actuator limits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Model takeaway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Reserve grip for resistance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Claim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Educational simulation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71920"/>
                </a:solidFill>
                <a:latin typeface="Arial"/>
              </a:defRPr>
            </a:pPr>
            <a:r>
              <a:t>ME3106 · REFERENCES &amp; HANDOFF</a:t>
            </a:r>
          </a:p>
          <a:p>
            <a:pPr>
              <a:defRPr sz="2100" b="1">
                <a:solidFill>
                  <a:srgbClr val="13233A"/>
                </a:solidFill>
                <a:latin typeface="Arial"/>
              </a:defRPr>
            </a:pPr>
            <a:r>
              <a:t>Evidence, Source Files and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Representative Educational Model  ·  Run ID: 9b1c3a7968173ace  ·  Slide 18 of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Inputs: config/project.json and tracks/*.json define assumptions and geometry.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Physics: src/f1wing/aero.py, dynamics.py, lap.py and strategies.py.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Corrected results: docs/verification/*-20261005.csv and matching JSON audit receipts.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Native files: matlab/ and results/simulink/; incomplete runtime scope is disclosed.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114800" cy="4663440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3233A"/>
                </a:solidFill>
                <a:latin typeface="Arial"/>
              </a:defRPr>
            </a:pPr>
            <a:r>
              <a:t>Key Metrics &amp;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2011680"/>
          <a:ext cx="3749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Editable PowerPoint + PDF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Speaker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Notes and slide-by-slide guide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Numerical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Corrected audit receipts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3233A"/>
                          </a:solidFill>
                          <a:latin typeface="Arial"/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Model, methods, trade-offs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